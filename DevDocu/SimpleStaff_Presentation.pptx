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0" y="914400"/>
            <a:ext cx="5029200" cy="5029200"/>
          </a:xfrm>
          <a:prstGeom prst="ellipse">
            <a:avLst/>
          </a:prstGeom>
          <a:solidFill>
            <a:srgbClr val="1C1434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8B5CF6"/>
                </a:solidFill>
                <a:latin typeface="Calibri"/>
              </a:defRPr>
            </a:pPr>
            <a:r>
              <a:t>SIMPLESTAFF</a:t>
            </a:r>
          </a:p>
          <a:p>
            <a:pPr>
              <a:spcAft>
                <a:spcPts val="1400"/>
              </a:spcAft>
              <a:defRPr sz="4400" b="1">
                <a:solidFill>
                  <a:srgbClr val="F0F0F5"/>
                </a:solidFill>
                <a:latin typeface="Calibri"/>
              </a:defRPr>
            </a:pPr>
            <a:r>
              <a:t>Intelligente Schichtplanung für moderne Unternehmen</a:t>
            </a:r>
          </a:p>
          <a:p>
            <a:pPr>
              <a:defRPr sz="1800">
                <a:solidFill>
                  <a:srgbClr val="9CA3AF"/>
                </a:solidFill>
                <a:latin typeface="Calibri"/>
              </a:defRPr>
            </a:pPr>
            <a:r>
              <a:t>Die vollautomatische, gesetzeskonforme und mitarbeiterzentrierte All-in-One HR-Lösung.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  <a:latin typeface="Calibri"/>
              </a:defRPr>
            </a:pPr>
            <a:r>
              <a:t>DIE AUSGANGSLAGE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0F0F5"/>
                </a:solidFill>
                <a:latin typeface="Calibri"/>
              </a:defRPr>
            </a:pPr>
            <a:r>
              <a:t>Herausforderungen im Schichtbetrieb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1A1B25"/>
          </a:solidFill>
          <a:ln w="19050">
            <a:solidFill>
              <a:srgbClr val="32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8B5CF6"/>
                </a:solidFill>
                <a:latin typeface="Calibri"/>
              </a:defRPr>
            </a:pPr>
            <a:r>
              <a:t>1. Hoher Zeitaufwand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Manuelle Dienstplanerstellung per Excel oder Papier kostet wöchentlich mehrere Stunden.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Spontane Ausfälle oder Schichtwünsche erfordern mühsames Telefonieren und Mailen.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Hohe Fehleranfälligkeit bei Vertragsstunden und Urlaubsständen.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1A1B25"/>
          </a:solidFill>
          <a:ln w="19050">
            <a:solidFill>
              <a:srgbClr val="32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8B5CF6"/>
                </a:solidFill>
                <a:latin typeface="Calibri"/>
              </a:defRPr>
            </a:pPr>
            <a:r>
              <a:t>2. ArbZG &amp; Haftungsrisiko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Verstöße gegen das Arbeitszeitgesetz (ArbZG) drohen ständig unbemerkt.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Mindestruhezeit von 11h, maximale Arbeitszeit (10h/Tag) und Pausenregelungen sind manuell schwer zu überwachen.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Bußgelder und rechtliche Risiken für die Geschäftsführung.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1A1B25"/>
          </a:solidFill>
          <a:ln w="19050">
            <a:solidFill>
              <a:srgbClr val="32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8B5CF6"/>
                </a:solidFill>
                <a:latin typeface="Calibri"/>
              </a:defRPr>
            </a:pPr>
            <a:r>
              <a:t>3. Frustrierte Belegschaft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Mangelnde Transparenz bei der Dienstplan-Verteilung.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Komplizierte Prozesse für Urlaub oder Schichttausch.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Dienstpläne sind nicht mobil oder flexibel einsehbar.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  <a:latin typeface="Calibri"/>
              </a:defRPr>
            </a:pPr>
            <a:r>
              <a:t>UNSERE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0F0F5"/>
                </a:solidFill>
                <a:latin typeface="Calibri"/>
              </a:defRPr>
            </a:pPr>
            <a:r>
              <a:t>Die Lösung: SimpleStaff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solidFill>
            <a:srgbClr val="171428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50" b="1">
                <a:solidFill>
                  <a:srgbClr val="F0F0F5"/>
                </a:solidFill>
                <a:latin typeface="Calibri"/>
              </a:defRPr>
            </a:pPr>
            <a:r>
              <a:t>SimpleStaff vereint automatische Dienstplanung, gesetzliche Echtzeit-Prüfung und ein Mitarbeiter-Portal in einer modernen Web-Anwendung. Sicher, modular und sofort einsatzbereit.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3291840" cy="2926080"/>
          </a:xfrm>
          <a:prstGeom prst="roundRect">
            <a:avLst/>
          </a:prstGeom>
          <a:solidFill>
            <a:srgbClr val="1A1B25"/>
          </a:solidFill>
          <a:ln w="19050">
            <a:solidFill>
              <a:srgbClr val="32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8B5CF6"/>
                </a:solidFill>
                <a:latin typeface="Calibri"/>
              </a:defRPr>
            </a:pPr>
            <a:r>
              <a:t>🤖 Automatisch &amp; Smart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Schichtpläne per Knopfdruck in Sekunden besetzen.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Automatischer Abgleich von Verträgen, Urlauben und Wunschzeiten.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108960"/>
            <a:ext cx="3291840" cy="2926080"/>
          </a:xfrm>
          <a:prstGeom prst="roundRect">
            <a:avLst/>
          </a:prstGeom>
          <a:solidFill>
            <a:srgbClr val="1A1B25"/>
          </a:solidFill>
          <a:ln w="19050">
            <a:solidFill>
              <a:srgbClr val="32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8B5CF6"/>
                </a:solidFill>
                <a:latin typeface="Calibri"/>
              </a:defRPr>
            </a:pPr>
            <a:r>
              <a:t>⚖️ Gesetzeskonform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Integrierte ArbZG-Validierung prüft jede Zuweisung live.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Warnung bei Konflikten wie Ruhezeitverletzung.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108960"/>
            <a:ext cx="3291840" cy="2926080"/>
          </a:xfrm>
          <a:prstGeom prst="roundRect">
            <a:avLst/>
          </a:prstGeom>
          <a:solidFill>
            <a:srgbClr val="1A1B25"/>
          </a:solidFill>
          <a:ln w="19050">
            <a:solidFill>
              <a:srgbClr val="32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8B5CF6"/>
                </a:solidFill>
                <a:latin typeface="Calibri"/>
              </a:defRPr>
            </a:pPr>
            <a:r>
              <a:t>📱 Mitarbeiterzentriert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Eigenes Portal für Urlaube, Wunschzeiten &amp; Tauschbörse.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Live-Kalender-Synchronisation per QR-Code.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  <a:latin typeface="Calibri"/>
              </a:defRPr>
            </a:pPr>
            <a:r>
              <a:t>ENTERPRISE-ARCHITEKTUR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0F0F5"/>
                </a:solidFill>
                <a:latin typeface="Calibri"/>
              </a:defRPr>
            </a:pPr>
            <a:r>
              <a:t>Sicherheit &amp; Mandantenfähigkeit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206240"/>
          </a:xfrm>
          <a:prstGeom prst="roundRect">
            <a:avLst/>
          </a:prstGeom>
          <a:solidFill>
            <a:srgbClr val="1A1B25"/>
          </a:solidFill>
          <a:ln w="19050">
            <a:solidFill>
              <a:srgbClr val="32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8B5CF6"/>
                </a:solidFill>
                <a:latin typeface="Calibri"/>
              </a:defRPr>
            </a:pPr>
            <a:r>
              <a:t>Row-Level Security (RLS) &amp; Isolation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Vollständige Datentrennung: Jeder Betrieb (Tenant) ist auf Datenbank-Ebene durch PostgreSQL RLS-Richtlinien strikt isoliert.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Kein Datendurchlauf: Datenlecks zwischen Mandanten sind durch hardwarenahe SQL-Abfragen unmöglich.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Flexibel &amp; Skalierbar: Neue Standorte oder Mandanten können im Super-Admin-Panel in Sekunden angelegt und konfiguriert werden.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RLS-Absicherung gilt für alle Entitäten (Mitarbeiter, Schichten, Urlaube, Einstellungen).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206240"/>
          </a:xfrm>
          <a:prstGeom prst="roundRect">
            <a:avLst/>
          </a:prstGeom>
          <a:solidFill>
            <a:srgbClr val="1A1B25"/>
          </a:solidFill>
          <a:ln w="19050">
            <a:solidFill>
              <a:srgbClr val="32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8B5CF6"/>
                </a:solidFill>
                <a:latin typeface="Calibri"/>
              </a:defRPr>
            </a:pPr>
            <a:r>
              <a:t>Rollenbasiertes Berechtigungssystem (RBAC)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Super-Admin: Übergreifende Mandanten- und Systemkonfiguration.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Admin/Manager: Voller Zugriff auf Stammdaten, Dienstpläne, Schließtage und Urlaubsfreigaben.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Planner: Erstellung und Bearbeitung des Schichtplans sowie Schichtzuweisungen.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Viewer (Mitarbeiter): Geschützter Eigenzugriff auf persönliche Schichten, Urlaubsanträge, Tauschbörse und Kalenderfeeds.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  <a:latin typeface="Calibri"/>
              </a:defRPr>
            </a:pPr>
            <a:r>
              <a:t>AUTOMATISCHE PLANUNG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0F0F5"/>
                </a:solidFill>
                <a:latin typeface="Calibri"/>
              </a:defRPr>
            </a:pPr>
            <a:r>
              <a:t>Der intelligente Auto-Scheduler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206240"/>
          </a:xfrm>
          <a:prstGeom prst="roundRect">
            <a:avLst/>
          </a:prstGeom>
          <a:solidFill>
            <a:srgbClr val="1A1B25"/>
          </a:solidFill>
          <a:ln w="19050">
            <a:solidFill>
              <a:srgbClr val="32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8B5CF6"/>
                </a:solidFill>
                <a:latin typeface="Calibri"/>
              </a:defRPr>
            </a:pPr>
            <a:r>
              <a:t>Smarter Greedy-Planungsalgorithmus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Planen auf Knopfdruck: Freie Schichten wochen- oder monatsweise in Sekunden besetzen.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Soll-Stunden-Abgleich: Verteilung orientiert sich an den vertraglichen Wochen- oder Monatsstunden des Mitarbeiters.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Wunschzeiten-Bonus: Wunschschichten (grün) werden im Scoring-System bevorzugt vergeben.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Sperrzeiten-Schutz: Als gesperrt markierte Zeiten werden als harter Filter komplett ausgeschlossen.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Validierte Zuteilung: Verhindert vollautomatisch Gesetzeskonflikte bei der Generierung.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554480"/>
            <a:ext cx="5212080" cy="4206240"/>
          </a:xfrm>
          <a:prstGeom prst="rect">
            <a:avLst/>
          </a:prstGeom>
          <a:solidFill>
            <a:srgbClr val="1A1B25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edia_r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  <a:latin typeface="Calibri"/>
              </a:defRPr>
            </a:pPr>
            <a:r>
              <a:t>DIE 31-TAGE-MATRIX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0F0F5"/>
                </a:solidFill>
                <a:latin typeface="Calibri"/>
              </a:defRPr>
            </a:pPr>
            <a:r>
              <a:t>Detaillierte Monatsplanung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206240"/>
          </a:xfrm>
          <a:prstGeom prst="roundRect">
            <a:avLst/>
          </a:prstGeom>
          <a:solidFill>
            <a:srgbClr val="1A1B25"/>
          </a:solidFill>
          <a:ln w="19050">
            <a:solidFill>
              <a:srgbClr val="32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8B5CF6"/>
                </a:solidFill>
                <a:latin typeface="Calibri"/>
              </a:defRPr>
            </a:pPr>
            <a:r>
              <a:t>Voller Überblick über 30/31 Tage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Ausgedehnte Matrix: Alle Mitarbeiter und der gesamte Monat auf einer einzigen, übersichtlichen Seite.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Hintergrund-Reload: Flackerfreies Laden und Speichern von Schichten ohne Unterbrechung der Benutzeroberfläche.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Direktes Zuweisungsmodal: Ablenkungsfreie Schichteinteilung per Klick statt fehleranfälligem Drag &amp; Drop.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Integrierte Status-Icons: Zeigt Urlaube (🌴) und gesperrte Tage (🚫) direkt in den jeweiligen Monats-Zellen an.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Live-Zeitanalyse: Integrierte Monatssummen für geleistete Ist-Stunden im Vergleich zu vertraglichen Soll-Stunden.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554480"/>
            <a:ext cx="5212080" cy="4206240"/>
          </a:xfrm>
          <a:prstGeom prst="rect">
            <a:avLst/>
          </a:prstGeom>
          <a:solidFill>
            <a:srgbClr val="1A1B25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edia_r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  <a:latin typeface="Calibri"/>
              </a:defRPr>
            </a:pPr>
            <a:r>
              <a:t>EHRZZEIT-VALIDIERUNG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0F0F5"/>
                </a:solidFill>
                <a:latin typeface="Calibri"/>
              </a:defRPr>
            </a:pPr>
            <a:r>
              <a:t>Gesetzeskonforme ArbZG-Prüfung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206240"/>
          </a:xfrm>
          <a:prstGeom prst="roundRect">
            <a:avLst/>
          </a:prstGeom>
          <a:solidFill>
            <a:srgbClr val="1A1B25"/>
          </a:solidFill>
          <a:ln w="19050">
            <a:solidFill>
              <a:srgbClr val="32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8B5CF6"/>
                </a:solidFill>
                <a:latin typeface="Calibri"/>
              </a:defRPr>
            </a:pPr>
            <a:r>
              <a:t>Ihr digitaler Rechts-Schutzschild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Live-Abfragen: Bei jeder manuellen Einteilung prüft die Validierungs-Engine im Backend alle gesetzlichen Vorgaben.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Mindestruhezeit (11h): Blockiert Planungen, die die gesetzliche 11-stündige Ruhezeit unterschreiten.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Höchstarbeitszeit (10h): Warnung bei Überschreitung der maximalen täglichen Arbeitszeit.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Pausen-Regelungen: Automatischer Abgleich nach Arbeitsdauer (z.B. 30 Min. Pause ab 6h, 45 Min. ab 9h).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Konflikt-Warnungen: Planer können bei unkritischen Warnungen übersteuern, kritische Konflikte werden jedoch sicher abgefangen.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554480"/>
            <a:ext cx="5212080" cy="4206240"/>
          </a:xfrm>
          <a:prstGeom prst="rect">
            <a:avLst/>
          </a:prstGeom>
          <a:solidFill>
            <a:srgbClr val="1A1B25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edia_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  <a:latin typeface="Calibri"/>
              </a:defRPr>
            </a:pPr>
            <a:r>
              <a:t>SCHLIEẞTAGE &amp; HOLIDAY-MODE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0F0F5"/>
                </a:solidFill>
                <a:latin typeface="Calibri"/>
              </a:defRPr>
            </a:pPr>
            <a:r>
              <a:t>Betriebliche Steuerung &amp; Feiertage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206240"/>
          </a:xfrm>
          <a:prstGeom prst="roundRect">
            <a:avLst/>
          </a:prstGeom>
          <a:solidFill>
            <a:srgbClr val="1A1B25"/>
          </a:solidFill>
          <a:ln w="19050">
            <a:solidFill>
              <a:srgbClr val="32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8B5CF6"/>
                </a:solidFill>
                <a:latin typeface="Calibri"/>
              </a:defRPr>
            </a:pPr>
            <a:r>
              <a:t>Kalendersteuerung &amp; Sperrzeiten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Mandantenweite Schließtage: Hinterlegen von Feiertagen oder Betriebsurlauben im System sperrt die Dienstplanung für diesen Tag.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Holiday-Mode für Schichttypen: Konfigurieren Sie Schichten als 'Nur an Feiertagen erlaubt' oder 'An Feiertagen verboten'.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Gesetzliche Einhaltung: Verhindert versehentliche Einteilungen an stillen Feiertagen oder Sonntagen.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Warn-Logs: Direkte Anzeige von Feiertags-Konflikten bei der manuellen Planung.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Feiertags-Zusammenfassung: Automatische Berücksichtigung in den Stundenabrechnungen des Personals.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554480"/>
            <a:ext cx="5212080" cy="4206240"/>
          </a:xfrm>
          <a:prstGeom prst="rect">
            <a:avLst/>
          </a:prstGeom>
          <a:solidFill>
            <a:srgbClr val="1A1B25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edia_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  <a:latin typeface="Calibri"/>
              </a:defRPr>
            </a:pPr>
            <a:r>
              <a:t>ONBOARDING &amp; MOBILITÄT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0F0F5"/>
                </a:solidFill>
                <a:latin typeface="Calibri"/>
              </a:defRPr>
            </a:pPr>
            <a:r>
              <a:t>Mitarbeiter-Portal &amp; Live-Sync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1920240"/>
          </a:xfrm>
          <a:prstGeom prst="roundRect">
            <a:avLst/>
          </a:prstGeom>
          <a:solidFill>
            <a:srgbClr val="1A1B25"/>
          </a:solidFill>
          <a:ln w="19050">
            <a:solidFill>
              <a:srgbClr val="32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8B5CF6"/>
                </a:solidFill>
                <a:latin typeface="Calibri"/>
              </a:defRPr>
            </a:pPr>
            <a:r>
              <a:t>1. Login-Freischaltung in 2 Klicks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Passwörter direkt in den Mitarbeiter-Stammdaten vergeben und Login freischalten.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Keine umständliche Registrierung nötig – sofort einsatzbereit.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Mitarbeiter loggen sich mit E-Mail-Adresse und Passwort ein.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303520" cy="1920240"/>
          </a:xfrm>
          <a:prstGeom prst="roundRect">
            <a:avLst/>
          </a:prstGeom>
          <a:solidFill>
            <a:srgbClr val="1A1B25"/>
          </a:solidFill>
          <a:ln w="19050">
            <a:solidFill>
              <a:srgbClr val="32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8B5CF6"/>
                </a:solidFill>
                <a:latin typeface="Calibri"/>
              </a:defRPr>
            </a:pPr>
            <a:r>
              <a:t>2. Live-Kalender-Abo (webcal)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QR-Code scannen, um persönliche Schichten direkt in Apple Calendar, Google oder Outlook einzubinden.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Echtzeit-Synchronisation: Dienstplan-Änderungen werden automatisch auf das Handy übertragen.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554480"/>
            <a:ext cx="5212080" cy="4206240"/>
          </a:xfrm>
          <a:prstGeom prst="rect">
            <a:avLst/>
          </a:prstGeom>
          <a:solidFill>
            <a:srgbClr val="1A1B25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edia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  <a:latin typeface="Calibri"/>
              </a:defRPr>
            </a:pPr>
            <a:r>
              <a:t>VACATIONS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0F0F5"/>
                </a:solidFill>
                <a:latin typeface="Calibri"/>
              </a:defRPr>
            </a:pPr>
            <a:r>
              <a:t>Digitaler Urlaubs-Self-Service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206240"/>
          </a:xfrm>
          <a:prstGeom prst="roundRect">
            <a:avLst/>
          </a:prstGeom>
          <a:solidFill>
            <a:srgbClr val="1A1B25"/>
          </a:solidFill>
          <a:ln w="19050">
            <a:solidFill>
              <a:srgbClr val="32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8B5CF6"/>
                </a:solidFill>
                <a:latin typeface="Calibri"/>
              </a:defRPr>
            </a:pPr>
            <a:r>
              <a:t>Urlaubsanträge &amp; Saldo-Tracking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Komfortable Eingabe: Mitarbeiter beantragen Urlaub mobil und hinterlegen Notizen.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Automatische Urlaubstage-Berechnung: Wochenenden und gesetzliche Feiertage werden nicht vom Urlaubssaldo abgezogen.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Live-Resturlaubs-Saldo: Jederzeit transparente Übersicht über die verbleibenden Urlaubstage im Profil.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Manager-Genehmigungs-Cockpit: Urlaube mandantenweit einsehen und mit einem Klick genehmigen oder ablehnen.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Kalenderschutz: Automatische Dienstplan-Sperrung bei genehmigtem Urlaub.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554480"/>
            <a:ext cx="5212080" cy="4206240"/>
          </a:xfrm>
          <a:prstGeom prst="rect">
            <a:avLst/>
          </a:prstGeom>
          <a:solidFill>
            <a:srgbClr val="1A1B25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edia_va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  <a:latin typeface="Calibri"/>
              </a:defRPr>
            </a:pPr>
            <a:r>
              <a:t>SHIFT SWAPS 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0F0F5"/>
                </a:solidFill>
                <a:latin typeface="Calibri"/>
              </a:defRPr>
            </a:pPr>
            <a:r>
              <a:t>Schicht-Tauschbörse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206240"/>
          </a:xfrm>
          <a:prstGeom prst="roundRect">
            <a:avLst/>
          </a:prstGeom>
          <a:solidFill>
            <a:srgbClr val="1A1B25"/>
          </a:solidFill>
          <a:ln w="19050">
            <a:solidFill>
              <a:srgbClr val="32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8B5CF6"/>
                </a:solidFill>
                <a:latin typeface="Calibri"/>
              </a:defRPr>
            </a:pPr>
            <a:r>
              <a:t>Selbstorganisation im Team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Flexibler Tausch: Mitarbeiter stellen geplante Schichten in die Tauschbörse ein (mit Notizen).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P2P-Übernahme: Qualifizierte Kollegen können sich auf offene Schichten bewerben.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Wunsch-Tauschpartner: Möglichkeit zur direkten Abgabe an einen bestimmten Kollegen.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Finale Planer-Freigabe: Tauschanfragen landen übersichtlich im Cockpit der Planer.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Integrierte Gesetzesprüfung: Tausch wird blockiert, wenn er beim neuen Mitarbeiter gegen das ArbZG (z.B. Ruhezeit) verstößt.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554480"/>
            <a:ext cx="5212080" cy="4206240"/>
          </a:xfrm>
          <a:prstGeom prst="rect">
            <a:avLst/>
          </a:prstGeom>
          <a:solidFill>
            <a:srgbClr val="1A1B25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edia_sw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  <a:latin typeface="Calibri"/>
              </a:defRPr>
            </a:pPr>
            <a:r>
              <a:t>LOHNBUCHHALTUNG-EXPORT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0F0F5"/>
                </a:solidFill>
                <a:latin typeface="Calibri"/>
              </a:defRPr>
            </a:pPr>
            <a:r>
              <a:t>Live-Zeitanalyse &amp; Exports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206240"/>
          </a:xfrm>
          <a:prstGeom prst="roundRect">
            <a:avLst/>
          </a:prstGeom>
          <a:solidFill>
            <a:srgbClr val="1A1B25"/>
          </a:solidFill>
          <a:ln w="19050">
            <a:solidFill>
              <a:srgbClr val="32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8B5CF6"/>
                </a:solidFill>
                <a:latin typeface="Calibri"/>
              </a:defRPr>
            </a:pPr>
            <a:r>
              <a:t>Vorbereitung für die Abrechnung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Interaktive Stundenbilanz: Ist-Stunden vs. Soll-Stunden pro Mitarbeiter live im Planungs-Frontend bilanziert.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Netto-Arbeitszeitberechnung: Automatischer Abzug der Pausenzeiten und korrekte Erfassung von Mitternachtsschichten.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Excel-kompatible CSV-Exports: Dienstpläne inklusive Legende und Abrechnungs-Metadaten mit einem Klick herunterladen.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Druck-Optimierung: Querformat-Dienstpläne skaliert auf A4-Format inklusive Zeitstempel und Schichtlegende drucken.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Print-Only Auswertung: Gedruckte Zusammenfassungs-Tabellen dienen als direkte Abrechnungs- und Buchhaltungshilfe.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554480"/>
            <a:ext cx="5212080" cy="4206240"/>
          </a:xfrm>
          <a:prstGeom prst="rect">
            <a:avLst/>
          </a:prstGeom>
          <a:solidFill>
            <a:srgbClr val="1A1B25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edia_r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  <a:latin typeface="Calibri"/>
              </a:defRPr>
            </a:pPr>
            <a:r>
              <a:t>ROI &amp; MEHRWERT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0F0F5"/>
                </a:solidFill>
                <a:latin typeface="Calibri"/>
              </a:defRPr>
            </a:pPr>
            <a:r>
              <a:t>Die Vorteile für Ihr Unternehmen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920240"/>
          </a:xfrm>
          <a:prstGeom prst="roundRect">
            <a:avLst/>
          </a:prstGeom>
          <a:solidFill>
            <a:srgbClr val="1A1B25"/>
          </a:solidFill>
          <a:ln w="19050">
            <a:solidFill>
              <a:srgbClr val="32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8B5CF6"/>
                </a:solidFill>
                <a:latin typeface="Calibri"/>
              </a:defRPr>
            </a:pPr>
            <a:r>
              <a:t>⏱️ Bis zu 80% Zeitersparnis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Reduzieren Sie den wöchentlichen Zeitaufwand für Dienstpläne von Stunden auf wenige Minuten.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Weniger Rückfragen und Abstimmungsschleifen mit dem Team.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1920240"/>
          </a:xfrm>
          <a:prstGeom prst="roundRect">
            <a:avLst/>
          </a:prstGeom>
          <a:solidFill>
            <a:srgbClr val="1A1B25"/>
          </a:solidFill>
          <a:ln w="19050">
            <a:solidFill>
              <a:srgbClr val="32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8B5CF6"/>
                </a:solidFill>
                <a:latin typeface="Calibri"/>
              </a:defRPr>
            </a:pPr>
            <a:r>
              <a:t>🛡️ Haftungs- &amp; Gesetzesschutz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Schützen Sie Ihr Unternehmen aktiv vor Arbeitszeitverstößen und Bußgeldern.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Lückenlose Dokumentation der Einhaltung aller ArbZG-Vorgaben.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1920240"/>
          </a:xfrm>
          <a:prstGeom prst="roundRect">
            <a:avLst/>
          </a:prstGeom>
          <a:solidFill>
            <a:srgbClr val="1A1B25"/>
          </a:solidFill>
          <a:ln w="19050">
            <a:solidFill>
              <a:srgbClr val="32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8B5CF6"/>
                </a:solidFill>
                <a:latin typeface="Calibri"/>
              </a:defRPr>
            </a:pPr>
            <a:r>
              <a:t>❤️ Höhere Mitarbeiterbindung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Steigern Sie die Zufriedenheit durch transparente Urlaubsverfahren, Wunschzeiten und flexible Tauschbörse.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Pläne sind jederzeit mobil abrufbar.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931920"/>
            <a:ext cx="5120640" cy="1920240"/>
          </a:xfrm>
          <a:prstGeom prst="roundRect">
            <a:avLst/>
          </a:prstGeom>
          <a:solidFill>
            <a:srgbClr val="1A1B25"/>
          </a:solidFill>
          <a:ln w="19050">
            <a:solidFill>
              <a:srgbClr val="32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8B5CF6"/>
                </a:solidFill>
                <a:latin typeface="Calibri"/>
              </a:defRPr>
            </a:pPr>
            <a:r>
              <a:t>📊 Bereit für die Lohnbuchhaltung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Live-Auswertungen über geplante Ist-Stunden vs. vertragliche Soll-Stunden im Planer.</a:t>
            </a:r>
          </a:p>
          <a:p>
            <a:pPr>
              <a:spcAft>
                <a:spcPts val="600"/>
              </a:spcAft>
              <a:defRPr sz="1250">
                <a:solidFill>
                  <a:srgbClr val="F0F0F5"/>
                </a:solidFill>
                <a:latin typeface="Calibri"/>
              </a:defRPr>
            </a:pPr>
            <a:r>
              <a:t>• Excel-kompatible CSV-Exports inklusive Metadaten und Legende mit einem Klick generieren.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  <a:latin typeface="Calibri"/>
              </a:defRPr>
            </a:pPr>
            <a:r>
              <a:t>FAZIT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0F0F5"/>
                </a:solidFill>
                <a:latin typeface="Calibri"/>
              </a:defRPr>
            </a:pPr>
            <a:r>
              <a:t>Starten Sie jetzt mit SimpleStaff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828800"/>
            <a:ext cx="8534095" cy="3657600"/>
          </a:xfrm>
          <a:prstGeom prst="roundRect">
            <a:avLst/>
          </a:prstGeom>
          <a:solidFill>
            <a:srgbClr val="1A1B25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65760" bIns="365760"/>
          <a:lstStyle/>
          <a:p>
            <a:pPr algn="ctr">
              <a:spcAft>
                <a:spcPts val="1400"/>
              </a:spcAft>
              <a:defRPr sz="2400" b="1">
                <a:solidFill>
                  <a:srgbClr val="F0F0F5"/>
                </a:solidFill>
                <a:latin typeface="Calibri"/>
              </a:defRPr>
            </a:pPr>
            <a:r>
              <a:t>Schluss mit Planungschaos.</a:t>
            </a:r>
          </a:p>
          <a:p>
            <a:pPr algn="ctr">
              <a:spcAft>
                <a:spcPts val="2400"/>
              </a:spcAft>
              <a:defRPr sz="1600">
                <a:solidFill>
                  <a:srgbClr val="9CA3AF"/>
                </a:solidFill>
                <a:latin typeface="Calibri"/>
              </a:defRPr>
            </a:pPr>
            <a:r>
              <a:t>SimpleStaff bietet die perfekte Brücke zwischen effizienter, automatisierter Betriebsführung und hoher Mitarbeiterzufriedenheit. Reduzieren Sie administrativen Aufwand und sichern Sie sich rechtlich ab.</a:t>
            </a:r>
          </a:p>
          <a:p>
            <a:pPr algn="ctr">
              <a:defRPr sz="1600" b="1">
                <a:solidFill>
                  <a:srgbClr val="8B5CF6"/>
                </a:solidFill>
                <a:latin typeface="Calibri"/>
              </a:defRPr>
            </a:pPr>
            <a:r>
              <a:t>✓ Live-Demo testen   |   ✓ Benutzerkonten freischalten   |   ✓ Dienstpläne optimieren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